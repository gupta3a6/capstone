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4" r:id="rId6"/>
    <p:sldId id="287" r:id="rId7"/>
    <p:sldId id="279" r:id="rId8"/>
    <p:sldId id="258" r:id="rId9"/>
    <p:sldId id="261" r:id="rId10"/>
    <p:sldId id="286" r:id="rId11"/>
    <p:sldId id="285" r:id="rId12"/>
    <p:sldId id="288" r:id="rId13"/>
    <p:sldId id="281" r:id="rId14"/>
    <p:sldId id="277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E1353-7674-BD99-832E-2D9C5826B2F7}" v="52" dt="2025-12-05T18:24:28.695"/>
    <p1510:client id="{8A88668E-ABF1-1141-B2A9-5BF7C5E01992}" v="2095" dt="2025-12-05T18:41:51.443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2E7C92-7B00-48BD-8471-262528F1F880}">
      <dgm:prSet phldr="0"/>
      <dgm:spPr/>
      <dgm:t>
        <a:bodyPr/>
        <a:lstStyle/>
        <a:p>
          <a:pPr rtl="0">
            <a:defRPr b="1"/>
          </a:pPr>
          <a:r>
            <a:rPr lang="en-US"/>
            <a:t>Jan 15th</a:t>
          </a:r>
        </a:p>
      </dgm:t>
    </dgm:pt>
    <dgm:pt modelId="{84CF613C-7D10-4F95-ABDB-B9F14C0430E1}" type="parTrans" cxnId="{A7E2D8BD-BECA-4EE2-993F-6DA28FB1AA6B}">
      <dgm:prSet/>
      <dgm:spPr/>
    </dgm:pt>
    <dgm:pt modelId="{7B402479-40F2-4A54-9D8B-E6FF61464960}" type="sibTrans" cxnId="{A7E2D8BD-BECA-4EE2-993F-6DA28FB1AA6B}">
      <dgm:prSet/>
      <dgm:spPr/>
    </dgm:pt>
    <dgm:pt modelId="{932E4BED-3670-42DF-8C60-412CF1212879}">
      <dgm:prSet phldr="0"/>
      <dgm:spPr/>
      <dgm:t>
        <a:bodyPr/>
        <a:lstStyle/>
        <a:p>
          <a:pPr rtl="0">
            <a:defRPr b="1"/>
          </a:pPr>
          <a:r>
            <a:rPr lang="en-US" sz="1200" b="0"/>
            <a:t>Frontend designed, with some backend functionality</a:t>
          </a:r>
        </a:p>
      </dgm:t>
    </dgm:pt>
    <dgm:pt modelId="{7AECF2E0-7755-435E-B48C-3E0211F6876A}" type="parTrans" cxnId="{A30D8981-730E-46BF-A706-B240869714C1}">
      <dgm:prSet/>
      <dgm:spPr/>
    </dgm:pt>
    <dgm:pt modelId="{FB0720E2-4C41-4AB0-8F52-90AB612BE103}" type="sibTrans" cxnId="{A30D8981-730E-46BF-A706-B240869714C1}">
      <dgm:prSet/>
      <dgm:spPr/>
    </dgm:pt>
    <dgm:pt modelId="{B3540D94-EB35-4348-A9EF-066544960B13}">
      <dgm:prSet phldr="0"/>
      <dgm:spPr/>
      <dgm:t>
        <a:bodyPr/>
        <a:lstStyle/>
        <a:p>
          <a:pPr rtl="0">
            <a:defRPr b="1"/>
          </a:pPr>
          <a:r>
            <a:rPr lang="en-US" sz="1400">
              <a:latin typeface="Century Gothic"/>
              <a:ea typeface="+mn-ea"/>
              <a:cs typeface="+mn-cs"/>
            </a:rPr>
            <a:t>Feb 28th</a:t>
          </a:r>
          <a:endParaRPr lang="en-US"/>
        </a:p>
      </dgm:t>
    </dgm:pt>
    <dgm:pt modelId="{C8DFA1EE-E558-4DA6-9954-AD1BE0567261}" type="parTrans" cxnId="{4A9DA09B-59AA-45B5-A273-0D49FDD94D67}">
      <dgm:prSet/>
      <dgm:spPr/>
    </dgm:pt>
    <dgm:pt modelId="{0F9768B9-09AB-4231-B0FE-C7A37AFCD573}" type="sibTrans" cxnId="{4A9DA09B-59AA-45B5-A273-0D49FDD94D67}">
      <dgm:prSet/>
      <dgm:spPr/>
    </dgm:pt>
    <dgm:pt modelId="{136BC632-C477-4118-AAC4-033D58CA1EC3}">
      <dgm:prSet phldr="0"/>
      <dgm:spPr/>
      <dgm:t>
        <a:bodyPr/>
        <a:lstStyle/>
        <a:p>
          <a:pPr>
            <a:defRPr b="1"/>
          </a:pPr>
          <a:r>
            <a:rPr lang="en-US" sz="1200" b="0"/>
            <a:t>Deeper backend functionality, secure user interactions. </a:t>
          </a:r>
          <a:endParaRPr lang="en-US" sz="1200" b="0">
            <a:latin typeface="+mn-lt"/>
            <a:ea typeface="+mn-lt"/>
            <a:cs typeface="+mn-lt"/>
          </a:endParaRPr>
        </a:p>
      </dgm:t>
    </dgm:pt>
    <dgm:pt modelId="{94BDC6E7-AA71-43E0-BF23-786A5DC1AA74}" type="parTrans" cxnId="{050469C2-8289-480C-8B2F-7E0229FF08E0}">
      <dgm:prSet/>
      <dgm:spPr/>
    </dgm:pt>
    <dgm:pt modelId="{41802D07-1C40-4D1B-B695-BC41D17833A5}" type="sibTrans" cxnId="{050469C2-8289-480C-8B2F-7E0229FF08E0}">
      <dgm:prSet/>
      <dgm:spPr/>
    </dgm:pt>
    <dgm:pt modelId="{FF570AF3-B09A-4A7E-A15A-C182A93E2E82}">
      <dgm:prSet phldr="0"/>
      <dgm:spPr/>
      <dgm:t>
        <a:bodyPr/>
        <a:lstStyle/>
        <a:p>
          <a:pPr rtl="0">
            <a:defRPr b="1"/>
          </a:pPr>
          <a:r>
            <a:rPr lang="en-US" sz="1400">
              <a:latin typeface="Century Gothic"/>
              <a:ea typeface="+mn-ea"/>
              <a:cs typeface="+mn-cs"/>
            </a:rPr>
            <a:t>April 15th</a:t>
          </a:r>
          <a:endParaRPr lang="en-US"/>
        </a:p>
      </dgm:t>
    </dgm:pt>
    <dgm:pt modelId="{EEFB735B-54C5-43DD-886D-B5DA43F3331E}" type="parTrans" cxnId="{B6560136-1F9F-422F-9C52-12C46794633F}">
      <dgm:prSet/>
      <dgm:spPr/>
    </dgm:pt>
    <dgm:pt modelId="{91F04834-5A41-4B28-BC73-470903C2CF1E}" type="sibTrans" cxnId="{B6560136-1F9F-422F-9C52-12C46794633F}">
      <dgm:prSet/>
      <dgm:spPr/>
    </dgm:pt>
    <dgm:pt modelId="{EFEB4D61-3A9C-4140-977F-3C3F5C9EE9D1}">
      <dgm:prSet phldr="0" custT="1"/>
      <dgm:spPr/>
      <dgm:t>
        <a:bodyPr/>
        <a:lstStyle/>
        <a:p>
          <a:pPr rtl="0">
            <a:defRPr b="1"/>
          </a:pPr>
          <a:r>
            <a:rPr lang="en-US" sz="1200" b="0">
              <a:latin typeface="Century Gothic"/>
              <a:ea typeface="+mn-lt"/>
              <a:cs typeface="+mn-lt"/>
            </a:rPr>
            <a:t>End product with full functionality and design.</a:t>
          </a: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0EE1C4E5-65CE-4F2A-8FBD-4512794A1F7C}" type="pres">
      <dgm:prSet presAssocID="{BD2E7C92-7B00-48BD-8471-262528F1F880}" presName="composite" presStyleCnt="0"/>
      <dgm:spPr/>
    </dgm:pt>
    <dgm:pt modelId="{DEEF33DE-8002-4142-8CAE-3A544A48C1AD}" type="pres">
      <dgm:prSet presAssocID="{BD2E7C92-7B00-48BD-8471-262528F1F880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9E29096-D127-45CF-A439-F53EFE52DD56}" type="pres">
      <dgm:prSet presAssocID="{BD2E7C92-7B00-48BD-8471-262528F1F880}" presName="DropPinPlaceHolder" presStyleCnt="0"/>
      <dgm:spPr/>
    </dgm:pt>
    <dgm:pt modelId="{7F4AFBAE-DDF3-4176-8266-0C03B3DC2AF9}" type="pres">
      <dgm:prSet presAssocID="{BD2E7C92-7B00-48BD-8471-262528F1F880}" presName="DropPin" presStyleLbl="alignNode1" presStyleIdx="0" presStyleCnt="3"/>
      <dgm:spPr/>
    </dgm:pt>
    <dgm:pt modelId="{C8128AEB-53B9-4B13-81C0-A327D398FC0E}" type="pres">
      <dgm:prSet presAssocID="{BD2E7C92-7B00-48BD-8471-262528F1F880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3E898EE4-4FE8-47EE-A9CF-671D94F84381}" type="pres">
      <dgm:prSet presAssocID="{BD2E7C92-7B00-48BD-8471-262528F1F880}" presName="L2TextContainer" presStyleLbl="revTx" presStyleIdx="0" presStyleCnt="6">
        <dgm:presLayoutVars>
          <dgm:bulletEnabled val="1"/>
        </dgm:presLayoutVars>
      </dgm:prSet>
      <dgm:spPr/>
    </dgm:pt>
    <dgm:pt modelId="{6DE50C38-B75F-423B-AEB6-F7356D49B3FC}" type="pres">
      <dgm:prSet presAssocID="{BD2E7C92-7B00-48BD-8471-262528F1F880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10750795-C561-4073-B620-B163F0839E6A}" type="pres">
      <dgm:prSet presAssocID="{BD2E7C92-7B00-48BD-8471-262528F1F880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AC84DBA-F540-4538-A434-7064F47B100B}" type="pres">
      <dgm:prSet presAssocID="{BD2E7C92-7B00-48BD-8471-262528F1F880}" presName="EmptyPlaceHolder" presStyleCnt="0"/>
      <dgm:spPr/>
    </dgm:pt>
    <dgm:pt modelId="{05C61487-05D2-4B9C-B49E-6A74F8BAC058}" type="pres">
      <dgm:prSet presAssocID="{7B402479-40F2-4A54-9D8B-E6FF61464960}" presName="spaceBetweenRectangles" presStyleCnt="0"/>
      <dgm:spPr/>
    </dgm:pt>
    <dgm:pt modelId="{C19B760F-F14E-4439-AD47-2084A9CCDBEA}" type="pres">
      <dgm:prSet presAssocID="{B3540D94-EB35-4348-A9EF-066544960B13}" presName="composite" presStyleCnt="0"/>
      <dgm:spPr/>
    </dgm:pt>
    <dgm:pt modelId="{C820949D-08C4-4897-A074-6FF275B8140C}" type="pres">
      <dgm:prSet presAssocID="{B3540D94-EB35-4348-A9EF-066544960B13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FE92A51-F5CE-43FF-8349-D291050B79EE}" type="pres">
      <dgm:prSet presAssocID="{B3540D94-EB35-4348-A9EF-066544960B13}" presName="DropPinPlaceHolder" presStyleCnt="0"/>
      <dgm:spPr/>
    </dgm:pt>
    <dgm:pt modelId="{7F37A95F-2762-4846-BBC7-BB5F2D299972}" type="pres">
      <dgm:prSet presAssocID="{B3540D94-EB35-4348-A9EF-066544960B13}" presName="DropPin" presStyleLbl="alignNode1" presStyleIdx="1" presStyleCnt="3"/>
      <dgm:spPr/>
    </dgm:pt>
    <dgm:pt modelId="{8BEB25E6-A0E0-49CA-8977-BAB08088D5F7}" type="pres">
      <dgm:prSet presAssocID="{B3540D94-EB35-4348-A9EF-066544960B13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5EB93295-FD02-4A1E-B809-98C354D7E83D}" type="pres">
      <dgm:prSet presAssocID="{B3540D94-EB35-4348-A9EF-066544960B13}" presName="L2TextContainer" presStyleLbl="revTx" presStyleIdx="2" presStyleCnt="6">
        <dgm:presLayoutVars>
          <dgm:bulletEnabled val="1"/>
        </dgm:presLayoutVars>
      </dgm:prSet>
      <dgm:spPr/>
    </dgm:pt>
    <dgm:pt modelId="{15589882-2E35-40C6-8450-3C56FD94F21E}" type="pres">
      <dgm:prSet presAssocID="{B3540D94-EB35-4348-A9EF-066544960B13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F642BABE-15E4-4792-A1CB-3FCB37634126}" type="pres">
      <dgm:prSet presAssocID="{B3540D94-EB35-4348-A9EF-066544960B13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A530E5E5-CDF3-495E-A99F-9B2F086B45E7}" type="pres">
      <dgm:prSet presAssocID="{B3540D94-EB35-4348-A9EF-066544960B13}" presName="EmptyPlaceHolder" presStyleCnt="0"/>
      <dgm:spPr/>
    </dgm:pt>
    <dgm:pt modelId="{73276845-2192-4E23-90DB-4209CE98A5E9}" type="pres">
      <dgm:prSet presAssocID="{0F9768B9-09AB-4231-B0FE-C7A37AFCD573}" presName="spaceBetweenRectangles" presStyleCnt="0"/>
      <dgm:spPr/>
    </dgm:pt>
    <dgm:pt modelId="{209E00FD-5BEB-483E-B618-C2B570F2D570}" type="pres">
      <dgm:prSet presAssocID="{FF570AF3-B09A-4A7E-A15A-C182A93E2E82}" presName="composite" presStyleCnt="0"/>
      <dgm:spPr/>
    </dgm:pt>
    <dgm:pt modelId="{4ABB0643-BAE9-485B-8C4E-84E33F01BD4E}" type="pres">
      <dgm:prSet presAssocID="{FF570AF3-B09A-4A7E-A15A-C182A93E2E8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29AA77E-C958-4D42-B892-5E44225E5084}" type="pres">
      <dgm:prSet presAssocID="{FF570AF3-B09A-4A7E-A15A-C182A93E2E82}" presName="DropPinPlaceHolder" presStyleCnt="0"/>
      <dgm:spPr/>
    </dgm:pt>
    <dgm:pt modelId="{C16C046E-4FE9-408F-BBF2-E49A6FBAA9EE}" type="pres">
      <dgm:prSet presAssocID="{FF570AF3-B09A-4A7E-A15A-C182A93E2E82}" presName="DropPin" presStyleLbl="alignNode1" presStyleIdx="2" presStyleCnt="3"/>
      <dgm:spPr/>
    </dgm:pt>
    <dgm:pt modelId="{3B0D7FB3-903F-4015-8F93-697151F34847}" type="pres">
      <dgm:prSet presAssocID="{FF570AF3-B09A-4A7E-A15A-C182A93E2E8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C764EB4C-47BE-4C2E-A925-9A1E87619A78}" type="pres">
      <dgm:prSet presAssocID="{FF570AF3-B09A-4A7E-A15A-C182A93E2E82}" presName="L2TextContainer" presStyleLbl="revTx" presStyleIdx="4" presStyleCnt="6">
        <dgm:presLayoutVars>
          <dgm:bulletEnabled val="1"/>
        </dgm:presLayoutVars>
      </dgm:prSet>
      <dgm:spPr/>
    </dgm:pt>
    <dgm:pt modelId="{1EBF8D44-3E6D-4C29-82A1-D972BE9F7973}" type="pres">
      <dgm:prSet presAssocID="{FF570AF3-B09A-4A7E-A15A-C182A93E2E82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8E15946A-1C5B-476D-AF6D-43175411D439}" type="pres">
      <dgm:prSet presAssocID="{FF570AF3-B09A-4A7E-A15A-C182A93E2E82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BEC4EC35-5A4C-4225-A9A6-A6D9FB3E8274}" type="pres">
      <dgm:prSet presAssocID="{FF570AF3-B09A-4A7E-A15A-C182A93E2E82}" presName="EmptyPlaceHolder" presStyleCnt="0"/>
      <dgm:spPr/>
    </dgm:pt>
  </dgm:ptLst>
  <dgm:cxnLst>
    <dgm:cxn modelId="{28986B06-90D3-4ABA-A987-62A45C8B4EBA}" type="presOf" srcId="{FF570AF3-B09A-4A7E-A15A-C182A93E2E82}" destId="{1EBF8D44-3E6D-4C29-82A1-D972BE9F7973}" srcOrd="0" destOrd="0" presId="urn:microsoft.com/office/officeart/2017/3/layout/DropPinTimeline"/>
    <dgm:cxn modelId="{1B32EF2C-9DB5-4504-A9DA-B4956CC00208}" srcId="{FF570AF3-B09A-4A7E-A15A-C182A93E2E82}" destId="{EFEB4D61-3A9C-4140-977F-3C3F5C9EE9D1}" srcOrd="0" destOrd="0" parTransId="{57D352E4-0431-4F68-B8F1-61BFA34799AA}" sibTransId="{0ECC32B6-1E7C-4AA4-9DBF-D69B7C5E64A9}"/>
    <dgm:cxn modelId="{B6560136-1F9F-422F-9C52-12C46794633F}" srcId="{05A24E01-5535-46B9-A9A1-A9A07E639A88}" destId="{FF570AF3-B09A-4A7E-A15A-C182A93E2E82}" srcOrd="2" destOrd="0" parTransId="{EEFB735B-54C5-43DD-886D-B5DA43F3331E}" sibTransId="{91F04834-5A41-4B28-BC73-470903C2CF1E}"/>
    <dgm:cxn modelId="{32CE7F4D-1E28-44EB-9BBA-08912C194223}" type="presOf" srcId="{B3540D94-EB35-4348-A9EF-066544960B13}" destId="{15589882-2E35-40C6-8450-3C56FD94F21E}" srcOrd="0" destOrd="0" presId="urn:microsoft.com/office/officeart/2017/3/layout/DropPinTimeline"/>
    <dgm:cxn modelId="{6464E964-668E-4E15-80B1-E4FD8D4C5AF0}" type="presOf" srcId="{BD2E7C92-7B00-48BD-8471-262528F1F880}" destId="{6DE50C38-B75F-423B-AEB6-F7356D49B3FC}" srcOrd="0" destOrd="0" presId="urn:microsoft.com/office/officeart/2017/3/layout/DropPinTimeline"/>
    <dgm:cxn modelId="{62335667-6F78-47AC-BBE0-9B22986D7509}" type="presOf" srcId="{136BC632-C477-4118-AAC4-033D58CA1EC3}" destId="{5EB93295-FD02-4A1E-B809-98C354D7E83D}" srcOrd="0" destOrd="0" presId="urn:microsoft.com/office/officeart/2017/3/layout/DropPinTimeline"/>
    <dgm:cxn modelId="{A30D8981-730E-46BF-A706-B240869714C1}" srcId="{BD2E7C92-7B00-48BD-8471-262528F1F880}" destId="{932E4BED-3670-42DF-8C60-412CF1212879}" srcOrd="0" destOrd="0" parTransId="{7AECF2E0-7755-435E-B48C-3E0211F6876A}" sibTransId="{FB0720E2-4C41-4AB0-8F52-90AB612BE103}"/>
    <dgm:cxn modelId="{77023C98-95E7-488F-BA4C-0822550A2470}" type="presOf" srcId="{EFEB4D61-3A9C-4140-977F-3C3F5C9EE9D1}" destId="{C764EB4C-47BE-4C2E-A925-9A1E87619A78}" srcOrd="0" destOrd="0" presId="urn:microsoft.com/office/officeart/2017/3/layout/DropPinTimeline"/>
    <dgm:cxn modelId="{4A9DA09B-59AA-45B5-A273-0D49FDD94D67}" srcId="{05A24E01-5535-46B9-A9A1-A9A07E639A88}" destId="{B3540D94-EB35-4348-A9EF-066544960B13}" srcOrd="1" destOrd="0" parTransId="{C8DFA1EE-E558-4DA6-9954-AD1BE0567261}" sibTransId="{0F9768B9-09AB-4231-B0FE-C7A37AFCD573}"/>
    <dgm:cxn modelId="{AE245FAB-0CCC-462C-A8A8-699F4E607DD6}" type="presOf" srcId="{932E4BED-3670-42DF-8C60-412CF1212879}" destId="{3E898EE4-4FE8-47EE-A9CF-671D94F84381}" srcOrd="0" destOrd="0" presId="urn:microsoft.com/office/officeart/2017/3/layout/DropPinTimeline"/>
    <dgm:cxn modelId="{A7E2D8BD-BECA-4EE2-993F-6DA28FB1AA6B}" srcId="{05A24E01-5535-46B9-A9A1-A9A07E639A88}" destId="{BD2E7C92-7B00-48BD-8471-262528F1F880}" srcOrd="0" destOrd="0" parTransId="{84CF613C-7D10-4F95-ABDB-B9F14C0430E1}" sibTransId="{7B402479-40F2-4A54-9D8B-E6FF61464960}"/>
    <dgm:cxn modelId="{050469C2-8289-480C-8B2F-7E0229FF08E0}" srcId="{B3540D94-EB35-4348-A9EF-066544960B13}" destId="{136BC632-C477-4118-AAC4-033D58CA1EC3}" srcOrd="0" destOrd="0" parTransId="{94BDC6E7-AA71-43E0-BF23-786A5DC1AA74}" sibTransId="{41802D07-1C40-4D1B-B695-BC41D17833A5}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29E9057D-FAA7-4424-ADB4-5BDAAE7719DD}" type="presParOf" srcId="{6E9F3C9B-13CA-43A8-8836-0B2B41D07DEF}" destId="{E8AACCBB-6709-4071-B389-3BB226B3A586}" srcOrd="0" destOrd="0" presId="urn:microsoft.com/office/officeart/2017/3/layout/DropPinTimeline"/>
    <dgm:cxn modelId="{9E09EF06-AFE0-40B9-9A34-C961537906FD}" type="presParOf" srcId="{6E9F3C9B-13CA-43A8-8836-0B2B41D07DEF}" destId="{E6F74CED-5217-4282-85F1-1C12DC84731C}" srcOrd="1" destOrd="0" presId="urn:microsoft.com/office/officeart/2017/3/layout/DropPinTimeline"/>
    <dgm:cxn modelId="{687A7F3D-3FA1-433E-ADBA-BB3DF35CB804}" type="presParOf" srcId="{E6F74CED-5217-4282-85F1-1C12DC84731C}" destId="{0EE1C4E5-65CE-4F2A-8FBD-4512794A1F7C}" srcOrd="0" destOrd="0" presId="urn:microsoft.com/office/officeart/2017/3/layout/DropPinTimeline"/>
    <dgm:cxn modelId="{A677A8FD-7DAD-451D-B2A7-A0F019776B17}" type="presParOf" srcId="{0EE1C4E5-65CE-4F2A-8FBD-4512794A1F7C}" destId="{DEEF33DE-8002-4142-8CAE-3A544A48C1AD}" srcOrd="0" destOrd="0" presId="urn:microsoft.com/office/officeart/2017/3/layout/DropPinTimeline"/>
    <dgm:cxn modelId="{9D02B097-FF8D-4EDD-961B-1E262ED68701}" type="presParOf" srcId="{0EE1C4E5-65CE-4F2A-8FBD-4512794A1F7C}" destId="{89E29096-D127-45CF-A439-F53EFE52DD56}" srcOrd="1" destOrd="0" presId="urn:microsoft.com/office/officeart/2017/3/layout/DropPinTimeline"/>
    <dgm:cxn modelId="{EFFE185E-8214-42DF-963C-00252D31FADD}" type="presParOf" srcId="{89E29096-D127-45CF-A439-F53EFE52DD56}" destId="{7F4AFBAE-DDF3-4176-8266-0C03B3DC2AF9}" srcOrd="0" destOrd="0" presId="urn:microsoft.com/office/officeart/2017/3/layout/DropPinTimeline"/>
    <dgm:cxn modelId="{EAC99259-9890-4E1B-A3B7-553F0E9ED7B3}" type="presParOf" srcId="{89E29096-D127-45CF-A439-F53EFE52DD56}" destId="{C8128AEB-53B9-4B13-81C0-A327D398FC0E}" srcOrd="1" destOrd="0" presId="urn:microsoft.com/office/officeart/2017/3/layout/DropPinTimeline"/>
    <dgm:cxn modelId="{806EE845-B679-46FA-8353-A35C3D6EE613}" type="presParOf" srcId="{0EE1C4E5-65CE-4F2A-8FBD-4512794A1F7C}" destId="{3E898EE4-4FE8-47EE-A9CF-671D94F84381}" srcOrd="2" destOrd="0" presId="urn:microsoft.com/office/officeart/2017/3/layout/DropPinTimeline"/>
    <dgm:cxn modelId="{0D4137BC-716D-486B-9103-96ED32F3395B}" type="presParOf" srcId="{0EE1C4E5-65CE-4F2A-8FBD-4512794A1F7C}" destId="{6DE50C38-B75F-423B-AEB6-F7356D49B3FC}" srcOrd="3" destOrd="0" presId="urn:microsoft.com/office/officeart/2017/3/layout/DropPinTimeline"/>
    <dgm:cxn modelId="{332981C6-4D52-4990-ABCC-08C5604F722C}" type="presParOf" srcId="{0EE1C4E5-65CE-4F2A-8FBD-4512794A1F7C}" destId="{10750795-C561-4073-B620-B163F0839E6A}" srcOrd="4" destOrd="0" presId="urn:microsoft.com/office/officeart/2017/3/layout/DropPinTimeline"/>
    <dgm:cxn modelId="{CDF5CE07-C454-4DCE-B838-3259A4D52C81}" type="presParOf" srcId="{0EE1C4E5-65CE-4F2A-8FBD-4512794A1F7C}" destId="{EAC84DBA-F540-4538-A434-7064F47B100B}" srcOrd="5" destOrd="0" presId="urn:microsoft.com/office/officeart/2017/3/layout/DropPinTimeline"/>
    <dgm:cxn modelId="{96198B2D-0CF8-4678-9BFB-7723123153FD}" type="presParOf" srcId="{E6F74CED-5217-4282-85F1-1C12DC84731C}" destId="{05C61487-05D2-4B9C-B49E-6A74F8BAC058}" srcOrd="1" destOrd="0" presId="urn:microsoft.com/office/officeart/2017/3/layout/DropPinTimeline"/>
    <dgm:cxn modelId="{773185BC-4802-41F2-95AF-61A012B9997B}" type="presParOf" srcId="{E6F74CED-5217-4282-85F1-1C12DC84731C}" destId="{C19B760F-F14E-4439-AD47-2084A9CCDBEA}" srcOrd="2" destOrd="0" presId="urn:microsoft.com/office/officeart/2017/3/layout/DropPinTimeline"/>
    <dgm:cxn modelId="{B2D28F6A-34B8-45B4-B477-7CA437249C46}" type="presParOf" srcId="{C19B760F-F14E-4439-AD47-2084A9CCDBEA}" destId="{C820949D-08C4-4897-A074-6FF275B8140C}" srcOrd="0" destOrd="0" presId="urn:microsoft.com/office/officeart/2017/3/layout/DropPinTimeline"/>
    <dgm:cxn modelId="{4BA1D61E-3BB6-4B72-9F45-A84CF78A64C5}" type="presParOf" srcId="{C19B760F-F14E-4439-AD47-2084A9CCDBEA}" destId="{2FE92A51-F5CE-43FF-8349-D291050B79EE}" srcOrd="1" destOrd="0" presId="urn:microsoft.com/office/officeart/2017/3/layout/DropPinTimeline"/>
    <dgm:cxn modelId="{FC916B7B-93F8-4DBA-B719-E7F82C4A5FE5}" type="presParOf" srcId="{2FE92A51-F5CE-43FF-8349-D291050B79EE}" destId="{7F37A95F-2762-4846-BBC7-BB5F2D299972}" srcOrd="0" destOrd="0" presId="urn:microsoft.com/office/officeart/2017/3/layout/DropPinTimeline"/>
    <dgm:cxn modelId="{6D6C6B93-72C7-4DDA-B28B-576750AD44E8}" type="presParOf" srcId="{2FE92A51-F5CE-43FF-8349-D291050B79EE}" destId="{8BEB25E6-A0E0-49CA-8977-BAB08088D5F7}" srcOrd="1" destOrd="0" presId="urn:microsoft.com/office/officeart/2017/3/layout/DropPinTimeline"/>
    <dgm:cxn modelId="{BD90605E-1D51-455B-9A8C-196BF818DF0B}" type="presParOf" srcId="{C19B760F-F14E-4439-AD47-2084A9CCDBEA}" destId="{5EB93295-FD02-4A1E-B809-98C354D7E83D}" srcOrd="2" destOrd="0" presId="urn:microsoft.com/office/officeart/2017/3/layout/DropPinTimeline"/>
    <dgm:cxn modelId="{BD9A12D1-B0B8-4E24-B0A5-4962F76AABEF}" type="presParOf" srcId="{C19B760F-F14E-4439-AD47-2084A9CCDBEA}" destId="{15589882-2E35-40C6-8450-3C56FD94F21E}" srcOrd="3" destOrd="0" presId="urn:microsoft.com/office/officeart/2017/3/layout/DropPinTimeline"/>
    <dgm:cxn modelId="{B333F8F1-2DAD-41D1-99A0-A5FAEA573532}" type="presParOf" srcId="{C19B760F-F14E-4439-AD47-2084A9CCDBEA}" destId="{F642BABE-15E4-4792-A1CB-3FCB37634126}" srcOrd="4" destOrd="0" presId="urn:microsoft.com/office/officeart/2017/3/layout/DropPinTimeline"/>
    <dgm:cxn modelId="{6325BF17-0377-4FD2-B5CB-B4BD7F7C7EDD}" type="presParOf" srcId="{C19B760F-F14E-4439-AD47-2084A9CCDBEA}" destId="{A530E5E5-CDF3-495E-A99F-9B2F086B45E7}" srcOrd="5" destOrd="0" presId="urn:microsoft.com/office/officeart/2017/3/layout/DropPinTimeline"/>
    <dgm:cxn modelId="{D3E41D03-2700-4619-BF6A-A6F41366309A}" type="presParOf" srcId="{E6F74CED-5217-4282-85F1-1C12DC84731C}" destId="{73276845-2192-4E23-90DB-4209CE98A5E9}" srcOrd="3" destOrd="0" presId="urn:microsoft.com/office/officeart/2017/3/layout/DropPinTimeline"/>
    <dgm:cxn modelId="{922C98BF-7492-48C6-9FE4-36EEF77A2615}" type="presParOf" srcId="{E6F74CED-5217-4282-85F1-1C12DC84731C}" destId="{209E00FD-5BEB-483E-B618-C2B570F2D570}" srcOrd="4" destOrd="0" presId="urn:microsoft.com/office/officeart/2017/3/layout/DropPinTimeline"/>
    <dgm:cxn modelId="{A8D6003B-225E-4E08-BFC2-D559B73A6D57}" type="presParOf" srcId="{209E00FD-5BEB-483E-B618-C2B570F2D570}" destId="{4ABB0643-BAE9-485B-8C4E-84E33F01BD4E}" srcOrd="0" destOrd="0" presId="urn:microsoft.com/office/officeart/2017/3/layout/DropPinTimeline"/>
    <dgm:cxn modelId="{20F418E5-E615-40AA-8165-DEE8B97F9F03}" type="presParOf" srcId="{209E00FD-5BEB-483E-B618-C2B570F2D570}" destId="{D29AA77E-C958-4D42-B892-5E44225E5084}" srcOrd="1" destOrd="0" presId="urn:microsoft.com/office/officeart/2017/3/layout/DropPinTimeline"/>
    <dgm:cxn modelId="{35EAFF36-888D-4781-A0FB-BEB1B8F56FC6}" type="presParOf" srcId="{D29AA77E-C958-4D42-B892-5E44225E5084}" destId="{C16C046E-4FE9-408F-BBF2-E49A6FBAA9EE}" srcOrd="0" destOrd="0" presId="urn:microsoft.com/office/officeart/2017/3/layout/DropPinTimeline"/>
    <dgm:cxn modelId="{C3622C44-F72C-47F4-99C2-76F4D4C567D8}" type="presParOf" srcId="{D29AA77E-C958-4D42-B892-5E44225E5084}" destId="{3B0D7FB3-903F-4015-8F93-697151F34847}" srcOrd="1" destOrd="0" presId="urn:microsoft.com/office/officeart/2017/3/layout/DropPinTimeline"/>
    <dgm:cxn modelId="{DC25A7F1-E1FB-4D41-9675-BDD35F2BFDE4}" type="presParOf" srcId="{209E00FD-5BEB-483E-B618-C2B570F2D570}" destId="{C764EB4C-47BE-4C2E-A925-9A1E87619A78}" srcOrd="2" destOrd="0" presId="urn:microsoft.com/office/officeart/2017/3/layout/DropPinTimeline"/>
    <dgm:cxn modelId="{1C3D930A-948C-4B4A-97C1-F8DA31ABB3A6}" type="presParOf" srcId="{209E00FD-5BEB-483E-B618-C2B570F2D570}" destId="{1EBF8D44-3E6D-4C29-82A1-D972BE9F7973}" srcOrd="3" destOrd="0" presId="urn:microsoft.com/office/officeart/2017/3/layout/DropPinTimeline"/>
    <dgm:cxn modelId="{574A494B-7658-44A2-A9C7-AA4C4B247942}" type="presParOf" srcId="{209E00FD-5BEB-483E-B618-C2B570F2D570}" destId="{8E15946A-1C5B-476D-AF6D-43175411D439}" srcOrd="4" destOrd="0" presId="urn:microsoft.com/office/officeart/2017/3/layout/DropPinTimeline"/>
    <dgm:cxn modelId="{864E4704-844C-47BA-9B65-937252C1997E}" type="presParOf" srcId="{209E00FD-5BEB-483E-B618-C2B570F2D570}" destId="{BEC4EC35-5A4C-4225-A9A6-A6D9FB3E8274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905000"/>
          <a:ext cx="54864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4AFBAE-DDF3-4176-8266-0C03B3DC2AF9}">
      <dsp:nvSpPr>
        <dsp:cNvPr id="0" name=""/>
        <dsp:cNvSpPr/>
      </dsp:nvSpPr>
      <dsp:spPr>
        <a:xfrm rot="8100000">
          <a:off x="58071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28AEB-53B9-4B13-81C0-A327D398FC0E}">
      <dsp:nvSpPr>
        <dsp:cNvPr id="0" name=""/>
        <dsp:cNvSpPr/>
      </dsp:nvSpPr>
      <dsp:spPr>
        <a:xfrm>
          <a:off x="89197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98EE4-4FE8-47EE-A9CF-671D94F84381}">
      <dsp:nvSpPr>
        <dsp:cNvPr id="0" name=""/>
        <dsp:cNvSpPr/>
      </dsp:nvSpPr>
      <dsp:spPr>
        <a:xfrm>
          <a:off x="396283" y="777239"/>
          <a:ext cx="2284243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0" kern="1200"/>
            <a:t>Frontend designed, with some backend functionality</a:t>
          </a:r>
        </a:p>
      </dsp:txBody>
      <dsp:txXfrm>
        <a:off x="396283" y="777239"/>
        <a:ext cx="2284243" cy="1127760"/>
      </dsp:txXfrm>
    </dsp:sp>
    <dsp:sp modelId="{6DE50C38-B75F-423B-AEB6-F7356D49B3FC}">
      <dsp:nvSpPr>
        <dsp:cNvPr id="0" name=""/>
        <dsp:cNvSpPr/>
      </dsp:nvSpPr>
      <dsp:spPr>
        <a:xfrm>
          <a:off x="396283" y="380999"/>
          <a:ext cx="2284243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Jan 15th</a:t>
          </a:r>
        </a:p>
      </dsp:txBody>
      <dsp:txXfrm>
        <a:off x="396283" y="380999"/>
        <a:ext cx="2284243" cy="396240"/>
      </dsp:txXfrm>
    </dsp:sp>
    <dsp:sp modelId="{10750795-C561-4073-B620-B163F0839E6A}">
      <dsp:nvSpPr>
        <dsp:cNvPr id="0" name=""/>
        <dsp:cNvSpPr/>
      </dsp:nvSpPr>
      <dsp:spPr>
        <a:xfrm>
          <a:off x="198163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EF33DE-8002-4142-8CAE-3A544A48C1AD}">
      <dsp:nvSpPr>
        <dsp:cNvPr id="0" name=""/>
        <dsp:cNvSpPr/>
      </dsp:nvSpPr>
      <dsp:spPr>
        <a:xfrm>
          <a:off x="161222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7A95F-2762-4846-BBC7-BB5F2D299972}">
      <dsp:nvSpPr>
        <dsp:cNvPr id="0" name=""/>
        <dsp:cNvSpPr/>
      </dsp:nvSpPr>
      <dsp:spPr>
        <a:xfrm rot="18900000">
          <a:off x="1425177" y="309078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B25E6-A0E0-49CA-8977-BAB08088D5F7}">
      <dsp:nvSpPr>
        <dsp:cNvPr id="0" name=""/>
        <dsp:cNvSpPr/>
      </dsp:nvSpPr>
      <dsp:spPr>
        <a:xfrm>
          <a:off x="1456303" y="312191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93295-FD02-4A1E-B809-98C354D7E83D}">
      <dsp:nvSpPr>
        <dsp:cNvPr id="0" name=""/>
        <dsp:cNvSpPr/>
      </dsp:nvSpPr>
      <dsp:spPr>
        <a:xfrm>
          <a:off x="1763389" y="1905000"/>
          <a:ext cx="2284243" cy="112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0" kern="1200"/>
            <a:t>Deeper backend functionality, secure user interactions. </a:t>
          </a:r>
          <a:endParaRPr lang="en-US" sz="1500" b="0" kern="1200">
            <a:latin typeface="+mn-lt"/>
            <a:ea typeface="+mn-lt"/>
            <a:cs typeface="+mn-lt"/>
          </a:endParaRPr>
        </a:p>
      </dsp:txBody>
      <dsp:txXfrm>
        <a:off x="1763389" y="1905000"/>
        <a:ext cx="2284243" cy="1127759"/>
      </dsp:txXfrm>
    </dsp:sp>
    <dsp:sp modelId="{15589882-2E35-40C6-8450-3C56FD94F21E}">
      <dsp:nvSpPr>
        <dsp:cNvPr id="0" name=""/>
        <dsp:cNvSpPr/>
      </dsp:nvSpPr>
      <dsp:spPr>
        <a:xfrm>
          <a:off x="1763389" y="3032759"/>
          <a:ext cx="2284243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Century Gothic"/>
              <a:ea typeface="+mn-ea"/>
              <a:cs typeface="+mn-cs"/>
            </a:rPr>
            <a:t>Feb 28th</a:t>
          </a:r>
          <a:endParaRPr lang="en-US" sz="2000" kern="1200"/>
        </a:p>
      </dsp:txBody>
      <dsp:txXfrm>
        <a:off x="1763389" y="3032759"/>
        <a:ext cx="2284243" cy="396240"/>
      </dsp:txXfrm>
    </dsp:sp>
    <dsp:sp modelId="{F642BABE-15E4-4792-A1CB-3FCB37634126}">
      <dsp:nvSpPr>
        <dsp:cNvPr id="0" name=""/>
        <dsp:cNvSpPr/>
      </dsp:nvSpPr>
      <dsp:spPr>
        <a:xfrm>
          <a:off x="1565269" y="1905000"/>
          <a:ext cx="0" cy="112775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20949D-08C4-4897-A074-6FF275B8140C}">
      <dsp:nvSpPr>
        <dsp:cNvPr id="0" name=""/>
        <dsp:cNvSpPr/>
      </dsp:nvSpPr>
      <dsp:spPr>
        <a:xfrm>
          <a:off x="1528328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C046E-4FE9-408F-BBF2-E49A6FBAA9EE}">
      <dsp:nvSpPr>
        <dsp:cNvPr id="0" name=""/>
        <dsp:cNvSpPr/>
      </dsp:nvSpPr>
      <dsp:spPr>
        <a:xfrm rot="8100000">
          <a:off x="2792283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D7FB3-903F-4015-8F93-697151F34847}">
      <dsp:nvSpPr>
        <dsp:cNvPr id="0" name=""/>
        <dsp:cNvSpPr/>
      </dsp:nvSpPr>
      <dsp:spPr>
        <a:xfrm>
          <a:off x="2823409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4EB4C-47BE-4C2E-A925-9A1E87619A78}">
      <dsp:nvSpPr>
        <dsp:cNvPr id="0" name=""/>
        <dsp:cNvSpPr/>
      </dsp:nvSpPr>
      <dsp:spPr>
        <a:xfrm>
          <a:off x="3130495" y="777239"/>
          <a:ext cx="2284243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kern="1200">
              <a:latin typeface="Century Gothic"/>
              <a:ea typeface="+mn-lt"/>
              <a:cs typeface="+mn-lt"/>
            </a:rPr>
            <a:t>End product with full functionality and design.</a:t>
          </a:r>
        </a:p>
      </dsp:txBody>
      <dsp:txXfrm>
        <a:off x="3130495" y="777239"/>
        <a:ext cx="2284243" cy="1127760"/>
      </dsp:txXfrm>
    </dsp:sp>
    <dsp:sp modelId="{1EBF8D44-3E6D-4C29-82A1-D972BE9F7973}">
      <dsp:nvSpPr>
        <dsp:cNvPr id="0" name=""/>
        <dsp:cNvSpPr/>
      </dsp:nvSpPr>
      <dsp:spPr>
        <a:xfrm>
          <a:off x="3130495" y="380999"/>
          <a:ext cx="2284243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Century Gothic"/>
              <a:ea typeface="+mn-ea"/>
              <a:cs typeface="+mn-cs"/>
            </a:rPr>
            <a:t>April 15th</a:t>
          </a:r>
          <a:endParaRPr lang="en-US" sz="2000" kern="1200"/>
        </a:p>
      </dsp:txBody>
      <dsp:txXfrm>
        <a:off x="3130495" y="380999"/>
        <a:ext cx="2284243" cy="396240"/>
      </dsp:txXfrm>
    </dsp:sp>
    <dsp:sp modelId="{8E15946A-1C5B-476D-AF6D-43175411D439}">
      <dsp:nvSpPr>
        <dsp:cNvPr id="0" name=""/>
        <dsp:cNvSpPr/>
      </dsp:nvSpPr>
      <dsp:spPr>
        <a:xfrm>
          <a:off x="2932375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BB0643-BAE9-485B-8C4E-84E33F01BD4E}">
      <dsp:nvSpPr>
        <dsp:cNvPr id="0" name=""/>
        <dsp:cNvSpPr/>
      </dsp:nvSpPr>
      <dsp:spPr>
        <a:xfrm>
          <a:off x="2895434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12/8/25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12/8/25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gupta3a6@mail.uc.edu" TargetMode="External"/><Relationship Id="rId2" Type="http://schemas.openxmlformats.org/officeDocument/2006/relationships/hyperlink" Target="mailto:venkatrs@mail.uc.edu" TargetMode="Externa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/>
              <a:t>Sub4You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/>
              <a:t>By: Rakshana Venkat &amp; Akarsh Gupta 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872" y="711621"/>
            <a:ext cx="4120940" cy="5308179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1981200"/>
            <a:ext cx="4906920" cy="2854781"/>
          </a:xfrm>
        </p:spPr>
        <p:txBody>
          <a:bodyPr vert="horz" lIns="91416" tIns="45708" rIns="91416" bIns="45708" rtlCol="0" anchor="ctr">
            <a:normAutofit fontScale="62500" lnSpcReduction="20000"/>
          </a:bodyPr>
          <a:lstStyle/>
          <a:p>
            <a:r>
              <a:rPr lang="en-US"/>
              <a:t>Project Members</a:t>
            </a:r>
          </a:p>
          <a:p>
            <a:r>
              <a:rPr lang="en-US"/>
              <a:t>Project Abstract</a:t>
            </a:r>
          </a:p>
          <a:p>
            <a:r>
              <a:rPr lang="en-US"/>
              <a:t>User Stories &amp; Design Diagrams</a:t>
            </a:r>
          </a:p>
          <a:p>
            <a:r>
              <a:rPr lang="en-US"/>
              <a:t>Major Project Constraints </a:t>
            </a:r>
          </a:p>
          <a:p>
            <a:r>
              <a:rPr lang="en-US"/>
              <a:t>Project Progress </a:t>
            </a:r>
          </a:p>
          <a:p>
            <a:r>
              <a:rPr lang="en-US"/>
              <a:t>Expected Accomplishments </a:t>
            </a:r>
          </a:p>
          <a:p>
            <a:r>
              <a:rPr lang="en-US"/>
              <a:t>Division of Work </a:t>
            </a:r>
          </a:p>
          <a:p>
            <a:r>
              <a:rPr lang="en-US"/>
              <a:t>Expected Demo at Expo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43D18-E71D-0F11-2EC5-61CE014B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000"/>
              <a:t>Project Members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59B38-342D-FEE0-6F46-FC3A5FAA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70FBB29-10D0-94AE-4B17-12B3D718A7B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3138321"/>
            <a:ext cx="4911725" cy="16159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Rakshana Venkateswaran-</a:t>
            </a:r>
            <a:endParaRPr lang="en-US"/>
          </a:p>
          <a:p>
            <a:pPr>
              <a:buClr>
                <a:srgbClr val="595959"/>
              </a:buClr>
            </a:pPr>
            <a:r>
              <a:rPr lang="en-US" sz="1200">
                <a:solidFill>
                  <a:srgbClr val="000000"/>
                </a:solidFill>
                <a:latin typeface="Century Gothic"/>
                <a:cs typeface="Times New Roman"/>
                <a:hlinkClick r:id="rId2"/>
              </a:rPr>
              <a:t>venkatrs@mail.uc.edu</a:t>
            </a:r>
          </a:p>
          <a:p>
            <a:pPr>
              <a:buClr>
                <a:srgbClr val="595959"/>
              </a:buClr>
            </a:pPr>
            <a:r>
              <a:rPr lang="en-US" sz="1200">
                <a:solidFill>
                  <a:srgbClr val="000000"/>
                </a:solidFill>
                <a:latin typeface="Century Gothic"/>
                <a:cs typeface="Times New Roman"/>
              </a:rPr>
              <a:t>  +1 513 923 7119 </a:t>
            </a:r>
            <a:endParaRPr lang="en-US">
              <a:latin typeface="Century Gothic"/>
            </a:endParaRPr>
          </a:p>
          <a:p>
            <a:pPr>
              <a:buClr>
                <a:srgbClr val="595959"/>
              </a:buClr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42CA5B-59F7-F2D2-F3B1-E8800C3989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0549" y="3138321"/>
            <a:ext cx="4911725" cy="16159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Akarsh Gupta-</a:t>
            </a:r>
          </a:p>
          <a:p>
            <a:pPr>
              <a:buClr>
                <a:srgbClr val="595959"/>
              </a:buClr>
            </a:pPr>
            <a:r>
              <a:rPr lang="en-US" sz="1200">
                <a:solidFill>
                  <a:srgbClr val="000000"/>
                </a:solidFill>
                <a:cs typeface="Times New Roman"/>
              </a:rPr>
              <a:t> </a:t>
            </a:r>
            <a:r>
              <a:rPr lang="en-US" sz="1200">
                <a:solidFill>
                  <a:srgbClr val="000000"/>
                </a:solidFill>
                <a:cs typeface="Times New Roman"/>
                <a:hlinkClick r:id="rId3"/>
              </a:rPr>
              <a:t>gupta3a6@mail.uc.edu</a:t>
            </a:r>
          </a:p>
          <a:p>
            <a:pPr>
              <a:buClr>
                <a:srgbClr val="595959"/>
              </a:buClr>
            </a:pPr>
            <a:r>
              <a:rPr lang="en-US" sz="1200">
                <a:solidFill>
                  <a:srgbClr val="000000"/>
                </a:solidFill>
                <a:cs typeface="Times New Roman"/>
              </a:rPr>
              <a:t>+1 513 837 6541</a:t>
            </a:r>
          </a:p>
          <a:p>
            <a:pPr>
              <a:buClr>
                <a:srgbClr val="595959"/>
              </a:buClr>
            </a:pPr>
            <a:endParaRPr lang="en-US" sz="1200">
              <a:solidFill>
                <a:srgbClr val="000000"/>
              </a:solidFill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B8842-371E-B56D-F9C7-D1A24C443C11}"/>
              </a:ext>
            </a:extLst>
          </p:cNvPr>
          <p:cNvSpPr txBox="1"/>
          <p:nvPr/>
        </p:nvSpPr>
        <p:spPr>
          <a:xfrm>
            <a:off x="1667618" y="1523724"/>
            <a:ext cx="3673104" cy="37998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Project Advisor: Dr. Will Hawkins</a:t>
            </a:r>
          </a:p>
        </p:txBody>
      </p:sp>
    </p:spTree>
    <p:extLst>
      <p:ext uri="{BB962C8B-B14F-4D97-AF65-F5344CB8AC3E}">
        <p14:creationId xmlns:p14="http://schemas.microsoft.com/office/powerpoint/2010/main" val="3714172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/>
          <a:p>
            <a:r>
              <a:rPr lang="en-US"/>
              <a:t>Project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4"/>
          </p:nvPr>
        </p:nvSpPr>
        <p:spPr>
          <a:xfrm>
            <a:off x="6768305" y="1988205"/>
            <a:ext cx="4882832" cy="30980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400" i="1">
                <a:ea typeface="+mn-lt"/>
                <a:cs typeface="+mn-lt"/>
              </a:rPr>
              <a:t>Sub4You</a:t>
            </a:r>
            <a:r>
              <a:rPr lang="en-US" sz="1400">
                <a:ea typeface="+mn-lt"/>
                <a:cs typeface="+mn-lt"/>
              </a:rPr>
              <a:t> is a web-based sublease finder platform designed to simplify the housing search process for college students. The app connects students looking to sublease their apartments or rooms with verified renters through a user-friendly interface. It integrates features inspired by platforms like Airbnb—such as location-based listings, secure chat, and filters for budget, amenities, and lease duration—while incorporating smart recommendations to match users with ideal listings and roommates. </a:t>
            </a:r>
            <a:r>
              <a:rPr lang="en-US" sz="1400" i="1">
                <a:ea typeface="+mn-lt"/>
                <a:cs typeface="+mn-lt"/>
              </a:rPr>
              <a:t>Sub4You</a:t>
            </a:r>
            <a:r>
              <a:rPr lang="en-US" sz="1400">
                <a:ea typeface="+mn-lt"/>
                <a:cs typeface="+mn-lt"/>
              </a:rPr>
              <a:t> aims to make short-term housing more accessible, transparent, and efficient for the student community.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7332" y="609600"/>
            <a:ext cx="4394357" cy="1447800"/>
          </a:xfrm>
        </p:spPr>
        <p:txBody>
          <a:bodyPr anchor="t">
            <a:normAutofit/>
          </a:bodyPr>
          <a:lstStyle/>
          <a:p>
            <a:r>
              <a:rPr lang="en-US"/>
              <a:t>User Stories &amp; Design Diagrams 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6911" y="1961361"/>
            <a:ext cx="4585520" cy="36043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As a sublease finder, I want to see top matches for my requirements, so that I can find a sublease</a:t>
            </a:r>
          </a:p>
          <a:p>
            <a:r>
              <a:rPr lang="en-US"/>
              <a:t>As a </a:t>
            </a:r>
            <a:r>
              <a:rPr lang="en-US" err="1"/>
              <a:t>subleaser</a:t>
            </a:r>
            <a:r>
              <a:rPr lang="en-US"/>
              <a:t>, I want to see top people for my room/house, so that I sublease my house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C543F-0F43-5BB6-6D4C-E5B7301FA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806" y="399599"/>
            <a:ext cx="5296753" cy="1053950"/>
          </a:xfrm>
          <a:prstGeom prst="rect">
            <a:avLst/>
          </a:prstGeom>
        </p:spPr>
      </p:pic>
      <p:pic>
        <p:nvPicPr>
          <p:cNvPr id="5" name="Picture 4" descr="A diagram of a data flow">
            <a:extLst>
              <a:ext uri="{FF2B5EF4-FFF2-40B4-BE49-F238E27FC236}">
                <a16:creationId xmlns:a16="http://schemas.microsoft.com/office/drawing/2014/main" id="{E42A7113-C02A-8A19-7042-858295E1C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615" y="1640694"/>
            <a:ext cx="3867965" cy="2399793"/>
          </a:xfrm>
          <a:prstGeom prst="rect">
            <a:avLst/>
          </a:prstGeom>
        </p:spPr>
      </p:pic>
      <p:pic>
        <p:nvPicPr>
          <p:cNvPr id="6" name="Picture 5" descr="A diagram of a software process">
            <a:extLst>
              <a:ext uri="{FF2B5EF4-FFF2-40B4-BE49-F238E27FC236}">
                <a16:creationId xmlns:a16="http://schemas.microsoft.com/office/drawing/2014/main" id="{754B4696-27AD-AD49-78F7-3964C9B7D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645" y="4139035"/>
            <a:ext cx="4341129" cy="26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688" y="487860"/>
            <a:ext cx="6503571" cy="1447800"/>
          </a:xfrm>
        </p:spPr>
        <p:txBody>
          <a:bodyPr>
            <a:normAutofit/>
          </a:bodyPr>
          <a:lstStyle/>
          <a:p>
            <a:r>
              <a:rPr lang="en-US"/>
              <a:t>Major Project Constraints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4664" y="1210634"/>
            <a:ext cx="5592804" cy="52271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Economic: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Limited budget; using free, open-source tools and student cloud credits.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Must balance features, performance, and cost.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Ethical: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Fair and transparent design with bias-free roommate matching.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Minimal data collection; users control what they share.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Legal: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Compliance with housing and privacy laws.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Verified listings only; copyright and data protection enforced..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Impact: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Constraints may limit early features but ensure a safer, more trustworthy app.</a:t>
            </a:r>
          </a:p>
          <a:p>
            <a:endParaRPr lang="en-US"/>
          </a:p>
        </p:txBody>
      </p:sp>
      <p:pic>
        <p:nvPicPr>
          <p:cNvPr id="21" name="Picture Placeholder 20" descr="Charts on a computer monitor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/>
        </p:blipFill>
        <p:spPr>
          <a:xfrm>
            <a:off x="7045945" y="2057400"/>
            <a:ext cx="4343400" cy="2688336"/>
          </a:xfr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-2114"/>
            <a:ext cx="4914900" cy="972022"/>
          </a:xfrm>
        </p:spPr>
        <p:txBody>
          <a:bodyPr anchor="b">
            <a:normAutofit/>
          </a:bodyPr>
          <a:lstStyle/>
          <a:p>
            <a:r>
              <a:rPr lang="en-US"/>
              <a:t>Project Progress 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AAEADD-9E83-5FD2-02FF-DF29AAB3833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924619" y="454243"/>
            <a:ext cx="4906230" cy="2521673"/>
          </a:xfrm>
          <a:prstGeom prst="rect">
            <a:avLst/>
          </a:prstGeom>
        </p:spPr>
      </p:pic>
      <p:pic>
        <p:nvPicPr>
          <p:cNvPr id="13" name="Picture 12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8675C4B7-5928-76F9-E829-3B9471CB7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70" y="4621376"/>
            <a:ext cx="5364449" cy="1784078"/>
          </a:xfrm>
          <a:prstGeom prst="rect">
            <a:avLst/>
          </a:prstGeom>
        </p:spPr>
      </p:pic>
      <p:pic>
        <p:nvPicPr>
          <p:cNvPr id="14" name="Picture 13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BB13FD85-5DAC-6C8F-0BCB-B82C71A16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577" y="3503959"/>
            <a:ext cx="5069707" cy="2901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56D8FD-97D4-E7E2-7D3E-FAD7551D2DFC}"/>
              </a:ext>
            </a:extLst>
          </p:cNvPr>
          <p:cNvSpPr txBox="1"/>
          <p:nvPr/>
        </p:nvSpPr>
        <p:spPr>
          <a:xfrm>
            <a:off x="1065213" y="1111275"/>
            <a:ext cx="5549968" cy="280076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We decided to redesign our website from scratch after being inspired from our earlier design, we have gone for a more modern design with Liquid Glass design with a pulsating background. 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We have finished working on the </a:t>
            </a:r>
            <a:r>
              <a:rPr lang="en-US" sz="1600" err="1"/>
              <a:t>TopBar</a:t>
            </a:r>
            <a:r>
              <a:rPr lang="en-US" sz="1600"/>
              <a:t> that stays as the navigation and the core for our project.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We have successfully set up our backend with </a:t>
            </a:r>
            <a:r>
              <a:rPr lang="en-US" sz="1600" err="1"/>
              <a:t>Supabase</a:t>
            </a:r>
            <a:r>
              <a:rPr lang="en-US" sz="1600"/>
              <a:t>. Therefore we have a functioning login/signup/logout and a user profile. </a:t>
            </a:r>
          </a:p>
        </p:txBody>
      </p:sp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r>
              <a:rPr lang="en-US"/>
              <a:t>Expected Accomplishments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754" y="1785515"/>
            <a:ext cx="4585520" cy="44628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595959"/>
              </a:buClr>
            </a:pPr>
            <a:r>
              <a:rPr lang="en-US" sz="1400"/>
              <a:t>We expect to finish the Home page layout and populating that site with example data by Dec 20</a:t>
            </a:r>
            <a:r>
              <a:rPr lang="en-US" sz="1400" baseline="30000"/>
              <a:t>th</a:t>
            </a:r>
            <a:r>
              <a:rPr lang="en-US" sz="1400"/>
              <a:t>. </a:t>
            </a:r>
          </a:p>
          <a:p>
            <a:pPr>
              <a:buClr>
                <a:srgbClr val="595959"/>
              </a:buClr>
            </a:pPr>
            <a:r>
              <a:rPr lang="en-US" sz="1400"/>
              <a:t>We will be completing the Logo Design, upload, store and display of image working on our website by the end of Dec. </a:t>
            </a:r>
          </a:p>
          <a:p>
            <a:pPr>
              <a:buClr>
                <a:srgbClr val="595959"/>
              </a:buClr>
            </a:pPr>
            <a:r>
              <a:rPr lang="en-US" sz="1400"/>
              <a:t>By Jan 15</a:t>
            </a:r>
            <a:r>
              <a:rPr lang="en-US" sz="1400" baseline="30000"/>
              <a:t>th</a:t>
            </a:r>
            <a:r>
              <a:rPr lang="en-US" sz="1400"/>
              <a:t> we expect to finish designing the user profile for all user types, and implementing filtering with data. </a:t>
            </a:r>
          </a:p>
          <a:p>
            <a:pPr>
              <a:buClr>
                <a:srgbClr val="595959"/>
              </a:buClr>
            </a:pPr>
            <a:r>
              <a:rPr lang="en-US" sz="1400"/>
              <a:t>By the end of Feb we expect to finish preferences based matching and  all user interactions, including security features. </a:t>
            </a:r>
          </a:p>
          <a:p>
            <a:pPr>
              <a:buClr>
                <a:srgbClr val="595959"/>
              </a:buClr>
            </a:pPr>
            <a:r>
              <a:rPr lang="en-US" sz="1400"/>
              <a:t>We want to finish the website by March with some polishing until April. </a:t>
            </a:r>
          </a:p>
          <a:p>
            <a:pPr>
              <a:buClr>
                <a:srgbClr val="595959"/>
              </a:buClr>
            </a:pPr>
            <a:endParaRPr lang="en-US"/>
          </a:p>
        </p:txBody>
      </p:sp>
      <p:graphicFrame>
        <p:nvGraphicFramePr>
          <p:cNvPr id="9" name="Diagram 2" descr="Drop pin timeline SmartArt graphic&#10;">
            <a:extLst>
              <a:ext uri="{FF2B5EF4-FFF2-40B4-BE49-F238E27FC236}">
                <a16:creationId xmlns:a16="http://schemas.microsoft.com/office/drawing/2014/main" id="{3FBEBE7D-0B6F-4C93-0F2F-3EBC3855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4089987"/>
              </p:ext>
            </p:extLst>
          </p:nvPr>
        </p:nvGraphicFramePr>
        <p:xfrm>
          <a:off x="6130924" y="2057400"/>
          <a:ext cx="54864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A917-E54D-A451-C177-2777BBDA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9C26-1FE8-D7A8-9C11-59654804A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872" y="677233"/>
            <a:ext cx="5367840" cy="138016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000"/>
              <a:t>Division of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525C6-4FCA-692F-7EC0-4322A2C69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C88AE460-D1E7-2BB9-07BF-ADEEC2C57DB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262626"/>
                </a:solidFill>
              </a:rPr>
              <a:t>Rakshana Venkateswaran-</a:t>
            </a:r>
            <a:endParaRPr lang="en-US">
              <a:solidFill>
                <a:srgbClr val="262626"/>
              </a:solidFill>
            </a:endParaRPr>
          </a:p>
          <a:p>
            <a:pPr>
              <a:buClr>
                <a:srgbClr val="595959"/>
              </a:buClr>
            </a:pPr>
            <a:r>
              <a:rPr lang="en-US" sz="1400">
                <a:solidFill>
                  <a:schemeClr val="tx1"/>
                </a:solidFill>
                <a:latin typeface="Century Gothic"/>
                <a:cs typeface="Times New Roman"/>
              </a:rPr>
              <a:t>Responsible for designing the frontend UI and overall app layout, ensuring the app is user-friendly and mobile-friendly.</a:t>
            </a:r>
          </a:p>
          <a:p>
            <a:pPr>
              <a:buClr>
                <a:srgbClr val="595959"/>
              </a:buClr>
            </a:pPr>
            <a:r>
              <a:rPr lang="en-US" sz="1400">
                <a:solidFill>
                  <a:schemeClr val="tx1"/>
                </a:solidFill>
                <a:latin typeface="Century Gothic"/>
                <a:cs typeface="Times New Roman"/>
              </a:rPr>
              <a:t> Additionally, will manage data collection and preprocessing for listings, including cleaning and organizing data for training. </a:t>
            </a:r>
          </a:p>
          <a:p>
            <a:pPr>
              <a:buClr>
                <a:srgbClr val="595959"/>
              </a:buClr>
            </a:pPr>
            <a:r>
              <a:rPr lang="en-US" sz="1400">
                <a:solidFill>
                  <a:schemeClr val="tx1"/>
                </a:solidFill>
                <a:latin typeface="Century Gothic"/>
                <a:cs typeface="Times New Roman"/>
              </a:rPr>
              <a:t>Also  ensure smooth integration of the backend features with the frontend.</a:t>
            </a:r>
            <a:endParaRPr lang="en-US" sz="1400">
              <a:solidFill>
                <a:schemeClr val="tx1"/>
              </a:solidFill>
              <a:latin typeface="Century Gothic"/>
            </a:endParaRPr>
          </a:p>
          <a:p>
            <a:pPr>
              <a:buClr>
                <a:srgbClr val="595959"/>
              </a:buClr>
            </a:pPr>
            <a:endParaRPr lang="en-US">
              <a:solidFill>
                <a:srgbClr val="26262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B860B3-7936-3088-C267-1E8AA6A4369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Akarsh Gupta-</a:t>
            </a:r>
          </a:p>
          <a:p>
            <a:pPr>
              <a:buClr>
                <a:srgbClr val="595959"/>
              </a:buClr>
            </a:pPr>
            <a:r>
              <a:rPr lang="en-US" sz="1400">
                <a:solidFill>
                  <a:srgbClr val="000000"/>
                </a:solidFill>
                <a:latin typeface="Century Gothic"/>
                <a:cs typeface="Times New Roman"/>
              </a:rPr>
              <a:t> Responsible for developing the smart matching, including training models, building recommendation algorithms, and ensuring accurate predictions.</a:t>
            </a:r>
            <a:endParaRPr lang="en-US" sz="1400" b="1">
              <a:solidFill>
                <a:srgbClr val="262626"/>
              </a:solidFill>
              <a:latin typeface="Century Gothic"/>
              <a:cs typeface="Times New Roman"/>
            </a:endParaRPr>
          </a:p>
          <a:p>
            <a:pPr>
              <a:buClr>
                <a:srgbClr val="595959"/>
              </a:buClr>
            </a:pPr>
            <a:r>
              <a:rPr lang="en-US" sz="1400">
                <a:solidFill>
                  <a:srgbClr val="000000"/>
                </a:solidFill>
                <a:latin typeface="Century Gothic"/>
                <a:cs typeface="Times New Roman"/>
              </a:rPr>
              <a:t> Will also handle the backend systems, including APIs and database management. </a:t>
            </a:r>
          </a:p>
          <a:p>
            <a:pPr>
              <a:buClr>
                <a:srgbClr val="595959"/>
              </a:buClr>
            </a:pPr>
            <a:r>
              <a:rPr lang="en-US" sz="1400">
                <a:solidFill>
                  <a:srgbClr val="000000"/>
                </a:solidFill>
                <a:latin typeface="Century Gothic"/>
                <a:cs typeface="Times New Roman"/>
              </a:rPr>
              <a:t>And will work closely with the Frontend &amp; Data Lead to integrate functionality seamlessly into the app.</a:t>
            </a:r>
            <a:endParaRPr lang="en-US" sz="1400" b="1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04050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184" y="609600"/>
            <a:ext cx="9581653" cy="717181"/>
          </a:xfrm>
        </p:spPr>
        <p:txBody>
          <a:bodyPr anchor="t"/>
          <a:lstStyle/>
          <a:p>
            <a:r>
              <a:rPr lang="en-US"/>
              <a:t>Expected Demo at Expo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164862" y="1880783"/>
            <a:ext cx="7097732" cy="3223457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/>
              <a:t>At the demo, we will showcase a </a:t>
            </a:r>
            <a:r>
              <a:rPr lang="en-US" b="1"/>
              <a:t>fully functional website</a:t>
            </a:r>
            <a:r>
              <a:rPr lang="en-US"/>
              <a:t> that highlights Sub4You’s core features. The demo will include </a:t>
            </a:r>
            <a:r>
              <a:rPr lang="en-US" b="1"/>
              <a:t>user registration and login</a:t>
            </a:r>
            <a:r>
              <a:rPr lang="en-US"/>
              <a:t>, </a:t>
            </a:r>
            <a:r>
              <a:rPr lang="en-US" b="1"/>
              <a:t>browsing and posting sublease listings</a:t>
            </a:r>
            <a:r>
              <a:rPr lang="en-US"/>
              <a:t>, and </a:t>
            </a:r>
            <a:r>
              <a:rPr lang="en-US" b="1"/>
              <a:t>basic roommate matching</a:t>
            </a:r>
            <a:r>
              <a:rPr lang="en-US"/>
              <a:t>. We’ll also demonstrate the </a:t>
            </a:r>
            <a:r>
              <a:rPr lang="en-US" b="1"/>
              <a:t>secure backend integration with </a:t>
            </a:r>
            <a:r>
              <a:rPr lang="en-US" b="1" err="1"/>
              <a:t>Supabase</a:t>
            </a:r>
            <a:r>
              <a:rPr lang="en-US"/>
              <a:t> and the app’s </a:t>
            </a:r>
            <a:r>
              <a:rPr lang="en-US" b="1"/>
              <a:t>clean, responsive front-end design</a:t>
            </a:r>
            <a:r>
              <a:rPr lang="en-US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050606-E255-48B6-AE23-CE03A589EB22}">
  <ds:schemaRefs>
    <ds:schemaRef ds:uri="http://schemas.microsoft.com/office/2006/metadata/properties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694</Words>
  <Application>Microsoft Macintosh PowerPoint</Application>
  <PresentationFormat>Custom</PresentationFormat>
  <Paragraphs>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Palatino Linotype</vt:lpstr>
      <vt:lpstr>Times New Roman</vt:lpstr>
      <vt:lpstr>Custom</vt:lpstr>
      <vt:lpstr>Sub4You</vt:lpstr>
      <vt:lpstr>Agenda</vt:lpstr>
      <vt:lpstr>Project Members </vt:lpstr>
      <vt:lpstr>Project Abstract</vt:lpstr>
      <vt:lpstr>User Stories &amp; Design Diagrams </vt:lpstr>
      <vt:lpstr>Major Project Constraints </vt:lpstr>
      <vt:lpstr>Project Progress </vt:lpstr>
      <vt:lpstr>Expected Accomplishments </vt:lpstr>
      <vt:lpstr>Division of Work</vt:lpstr>
      <vt:lpstr>Expected Demo at Expo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Gupta, Akarsh (gupta3a6)</cp:lastModifiedBy>
  <cp:revision>2</cp:revision>
  <dcterms:created xsi:type="dcterms:W3CDTF">2025-10-30T16:58:08Z</dcterms:created>
  <dcterms:modified xsi:type="dcterms:W3CDTF">2025-12-08T23:01:26Z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